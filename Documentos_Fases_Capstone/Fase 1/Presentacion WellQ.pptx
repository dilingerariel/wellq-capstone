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s4YWHrhw3xQjoV5YtWuvx5TNA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388048-E022-4F7C-BB70-678EE5CE56EF}">
  <a:tblStyle styleId="{29388048-E022-4F7C-BB70-678EE5CE56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a48b47fb7_0_1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a48b47fb7_0_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4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-1828800" y="4480560"/>
            <a:ext cx="4206240" cy="4206240"/>
          </a:xfrm>
          <a:prstGeom prst="ellipse">
            <a:avLst/>
          </a:prstGeom>
          <a:solidFill>
            <a:srgbClr val="0F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PRESENTACIÓN DEL PROYECTO  ·  FASE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7240" y="2331720"/>
            <a:ext cx="9875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WellQ Medical Exams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33375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Módulo de Gestión de Exámenes Médicos — plataforma clínica multitenant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4160520"/>
            <a:ext cx="2007108" cy="457200"/>
          </a:xfrm>
          <a:prstGeom prst="roundRect">
            <a:avLst>
              <a:gd fmla="val 50000" name="adj"/>
            </a:avLst>
          </a:prstGeom>
          <a:solidFill>
            <a:srgbClr val="0F4A50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32688" y="4261104"/>
            <a:ext cx="256032" cy="25603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243584" y="4160520"/>
            <a:ext cx="15499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Ariel Rodríguez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086100" y="4160520"/>
            <a:ext cx="2007108" cy="457200"/>
          </a:xfrm>
          <a:prstGeom prst="roundRect">
            <a:avLst>
              <a:gd fmla="val 50000" name="adj"/>
            </a:avLst>
          </a:prstGeom>
          <a:solidFill>
            <a:srgbClr val="0F4A50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195828" y="4261104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506724" y="4160520"/>
            <a:ext cx="15499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Juan Pablo Vega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49240" y="4160520"/>
            <a:ext cx="2295144" cy="457200"/>
          </a:xfrm>
          <a:prstGeom prst="roundRect">
            <a:avLst>
              <a:gd fmla="val 50000" name="adj"/>
            </a:avLst>
          </a:prstGeom>
          <a:solidFill>
            <a:srgbClr val="0F4A50"/>
          </a:solidFill>
          <a:ln cap="flat" cmpd="sng" w="15875">
            <a:solidFill>
              <a:srgbClr val="0C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58968" y="4261104"/>
            <a:ext cx="256032" cy="256032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769864" y="4160520"/>
            <a:ext cx="1837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Benjamín Fernández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37947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Integrantes del equipo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Descripción del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1417320"/>
            <a:ext cx="4892040" cy="4663440"/>
          </a:xfrm>
          <a:prstGeom prst="roundRect">
            <a:avLst>
              <a:gd fmla="val 1961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martphone_mint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737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868680" y="2331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Salud digital para fisioterapia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68680" y="278892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WellQ es una plataforma de salud digital orientada a clínicas de fisioterapia. Su aplicación móvil da seguimiento al progreso del paciente, integrando datos de wearables y documentación clínica en un solo lugar.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868680" y="4297680"/>
            <a:ext cx="4206240" cy="0"/>
          </a:xfrm>
          <a:prstGeom prst="straightConnector1">
            <a:avLst/>
          </a:prstGeom>
          <a:noFill/>
          <a:ln cap="flat" cmpd="sng" w="12700">
            <a:solidFill>
              <a:srgbClr val="1E60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868680" y="448056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Este proyecto desarrolla su módulo de Exámenes Médicos: capacidad multipaciente y multitenant para centralizar analíticas, informes de imagen, laboratorio y derivaciones.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669280" y="1417320"/>
            <a:ext cx="598932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870448" y="16002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layers_white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608" y="17373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870448" y="2167128"/>
            <a:ext cx="5586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Integración clínica total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870448" y="2478024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Une exámenes médicos con las sesiones y notas clínicas del fisioterapeuta en una sola vista.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69280" y="3044952"/>
            <a:ext cx="598932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870448" y="322783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users_white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7608" y="33649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5870448" y="3794760"/>
            <a:ext cx="5586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Multipaciente y multitenant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870448" y="4105656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Cada clínica administra, de forma aislada y segura, los documentos de todos sus pacientes.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669280" y="4672584"/>
            <a:ext cx="598932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870448" y="485546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hield_white.png" id="53" name="Google Shape;5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7608" y="49926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5870448" y="5422392"/>
            <a:ext cx="5586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Estándares Alloxentric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870448" y="5733288"/>
            <a:ext cx="5586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Aplica multitenancy, RBAC, feature gating, auditoría, i18n y temas visuales.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filetext_white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749808" y="2212848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Canales dispersos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49808" y="2523744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Los exámenes circulan por correo, papel o sistemas externos a WellQ.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37304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38472" y="16459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layers_white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632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4538472" y="2212848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Historia fragmentada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38472" y="2523744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La información clínica queda dividida entre distintos canales.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125968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327136" y="1645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eye_white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4296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8327136" y="2212848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Sin vista unificada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327136" y="2523744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El fisioterapeuta no ve sesiones, notas y exámenes en un solo lugar.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alert_white.png" id="81" name="Google Shape;8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749808" y="4700016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Sin trazabilidad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49808" y="5010912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No hay registro claro de quién accede a documentos clínicos sensibles.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337304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lock_white.png" id="86" name="Google Shape;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5632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4538472" y="4700016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Riesgo de exposición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38472" y="5010912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Falta un aislamiento formal y verificable entre clínicas (tenants).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125968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lipboard_white.png" id="91" name="Google Shape;9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4296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8327136" y="4700016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Carga administrativa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327136" y="5010912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El manejo manual resta tiempo clínico y complica cumplir con UK GDPR.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Propuesta de Solución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1417320"/>
            <a:ext cx="4892040" cy="4663440"/>
          </a:xfrm>
          <a:prstGeom prst="roundRect">
            <a:avLst>
              <a:gd fmla="val 1961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gitbranch_mint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737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868680" y="2331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módulo integrado a WellQ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68680" y="278892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Se propone desarrollar un módulo de Exámenes Médicos integrado a WellQ: backend en Node.js/TypeScript y panel clínico web, conectado con la app móvil existente en Flutter/Dart.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4"/>
          <p:cNvCxnSpPr/>
          <p:nvPr/>
        </p:nvCxnSpPr>
        <p:spPr>
          <a:xfrm>
            <a:off x="868680" y="4480560"/>
            <a:ext cx="4206240" cy="0"/>
          </a:xfrm>
          <a:prstGeom prst="straightConnector1">
            <a:avLst/>
          </a:prstGeom>
          <a:noFill/>
          <a:ln cap="flat" cmpd="sng" w="12700">
            <a:solidFill>
              <a:srgbClr val="1E60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4"/>
          <p:cNvSpPr/>
          <p:nvPr/>
        </p:nvSpPr>
        <p:spPr>
          <a:xfrm>
            <a:off x="868680" y="466344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El diseño prioriza seguridad desde el origen: aislamiento multitenant, autorización JWT + RBAC y control por plan comercial.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669280" y="1417320"/>
            <a:ext cx="5989320" cy="1088136"/>
          </a:xfrm>
          <a:prstGeom prst="roundRect">
            <a:avLst>
              <a:gd fmla="val 840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870448" y="1696212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upload_white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608" y="18333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6656832" y="160020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Gestión completa de exámenes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656832" y="192938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Subir, listar, consultar, descargar y eliminar lógicamente, con versionado.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669280" y="2642616"/>
            <a:ext cx="5989320" cy="1088136"/>
          </a:xfrm>
          <a:prstGeom prst="roundRect">
            <a:avLst>
              <a:gd fmla="val 840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870448" y="2921508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key_white.png" id="115" name="Google Shape;11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7608" y="30586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6656832" y="2825496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Seguridad multitenant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656832" y="3154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Aislamiento por clínica y autorización mediante JWT + RBAC.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669280" y="3867912"/>
            <a:ext cx="5989320" cy="1088136"/>
          </a:xfrm>
          <a:prstGeom prst="roundRect">
            <a:avLst>
              <a:gd fmla="val 840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870448" y="414680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database_white.png" id="120" name="Google Shape;1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7608" y="42839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6656832" y="4050792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Almacenamiento robusto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656832" y="437997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Archivos en MinIO/S3, metadatos en PostgreSQL; valida MIME y tamaño.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69280" y="5093208"/>
            <a:ext cx="5989320" cy="1088136"/>
          </a:xfrm>
          <a:prstGeom prst="roundRect">
            <a:avLst>
              <a:gd fmla="val 840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870448" y="5372100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filter_white.png" id="125" name="Google Shape;12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7608" y="55092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6656832" y="527608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Feature Gating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656832" y="560527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Funcionalidades habilitadas según el plan comercial de cada clínica.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1417320"/>
            <a:ext cx="11091672" cy="1234440"/>
          </a:xfrm>
          <a:prstGeom prst="roundRect">
            <a:avLst>
              <a:gd fmla="val 740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2960" y="1691640"/>
            <a:ext cx="658368" cy="658368"/>
          </a:xfrm>
          <a:prstGeom prst="ellipse">
            <a:avLst/>
          </a:prstGeom>
          <a:solidFill>
            <a:srgbClr val="0F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target_white.png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828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1691640" y="1600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F5E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6F5EF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691640" y="1874520"/>
            <a:ext cx="9646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e integrar un módulo de gestión de exámenes médicos multitenant, seguro y auditable, centralizando la documentación clínica y cumpliendo los estándares de Alloxentric y UK GDPR.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2880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48640" y="3218688"/>
            <a:ext cx="5472684" cy="932688"/>
          </a:xfrm>
          <a:prstGeom prst="roundRect">
            <a:avLst>
              <a:gd fmla="val 9804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13232" y="3502152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713232" y="35021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225296" y="3291840"/>
            <a:ext cx="46131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API REST de exámenes médicos, logrando que el 100% de los endpoints superen pruebas de integración con respuesta ≤ 300 ms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67628" y="3218688"/>
            <a:ext cx="5472684" cy="932688"/>
          </a:xfrm>
          <a:prstGeom prst="roundRect">
            <a:avLst>
              <a:gd fmla="val 9804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332220" y="3502152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332220" y="35021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44284" y="3291840"/>
            <a:ext cx="46131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Validar con Jest/Supertest casos funcionales, inválidos y de seguridad.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t/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8640" y="4297680"/>
            <a:ext cx="5472684" cy="932688"/>
          </a:xfrm>
          <a:prstGeom prst="roundRect">
            <a:avLst>
              <a:gd fmla="val 9804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13232" y="4581144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13232" y="4581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225296" y="4370832"/>
            <a:ext cx="46131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Garantizar el aislamiento multitenant, con 0 incidentes de acceso cross-tenant en el 100% de las pruebas de seguridad sobre el clinic_id del JWT.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132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167628" y="4297680"/>
            <a:ext cx="5472684" cy="932688"/>
          </a:xfrm>
          <a:prstGeom prst="roundRect">
            <a:avLst>
              <a:gd fmla="val 9804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332220" y="4581144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6332220" y="4581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844284" y="4370832"/>
            <a:ext cx="46131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Implementar auditoría inmutable, capturando las 5 dimensiones forenses en el 100% de los eventos y disponibilidad de logs ≥ 99%. 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8640" y="5376672"/>
            <a:ext cx="5472684" cy="932688"/>
          </a:xfrm>
          <a:prstGeom prst="roundRect">
            <a:avLst>
              <a:gd fmla="val 9804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13232" y="5660136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713232" y="56601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225296" y="5449824"/>
            <a:ext cx="461314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Implementar RBAC y feature gating según los Estándares Alloxentric, con el 100% de roles y planes comerciales restringiendo el acceso correctamente</a:t>
            </a:r>
            <a:endParaRPr sz="65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COBERTURA DEL PROYECTO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Alcances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erver_white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749808" y="2212848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Backend y API REST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49808" y="2523744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Node.js, TypeScript y Express, documentado con OpenAPI/Swagger.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337304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538472" y="1645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key_white.png" id="177" name="Google Shape;1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632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4538472" y="2212848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Middlewares de seguridad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538472" y="2523744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JWT, resolución de tenant, RBAC, Feature Gating y auditoría.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125968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327136" y="16459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database_white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4296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8327136" y="2212848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Datos y archivos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327136" y="2523744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PostgreSQL para metadatos, MinIO/S3 para almacenamiento.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48640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martphone_white.png" id="187" name="Google Shape;18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749808" y="4700016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Panel web + app móvil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49808" y="5010912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Prototipo HTML/CSS con i18n y modo claro/oscuro, integrado a Flutter/Dart.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337304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box_white.png" id="192" name="Google Shape;19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5632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4538472" y="4700016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Entorno reproducible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38472" y="5010912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Despliegue de desarrollo mediante Docker Compose.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125968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pu_white.png" id="197" name="Google Shape;19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4296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8327136" y="4700016"/>
            <a:ext cx="3112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Preparado a futuro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327136" y="5010912"/>
            <a:ext cx="3112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Arquitectura lista para automatización e inteligencia artificial.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MARCO REALISTA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Limitaciones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1463040"/>
            <a:ext cx="541782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49808" y="1961388"/>
            <a:ext cx="512064" cy="512064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filter_white.png"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20985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1417320" y="1645920"/>
            <a:ext cx="43662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Acceso por plan comercial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417320" y="1975104"/>
            <a:ext cx="43662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Las funcionalidades disponibles dependen del Feature Gating.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222492" y="1463040"/>
            <a:ext cx="541782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423660" y="1961388"/>
            <a:ext cx="512064" cy="512064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lock_white.png" id="215" name="Google Shape;2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0820" y="20985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/>
          <p:nvPr/>
        </p:nvSpPr>
        <p:spPr>
          <a:xfrm>
            <a:off x="7091172" y="1645920"/>
            <a:ext cx="43662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Retención variable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091172" y="1975104"/>
            <a:ext cx="43662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La auditoría es inmutable; su retención depende del nivel comercial.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48640" y="3227832"/>
            <a:ext cx="541782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49808" y="3726180"/>
            <a:ext cx="512064" cy="512064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repeat_white.png" id="220" name="Google Shape;2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968" y="38633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1417320" y="3410712"/>
            <a:ext cx="43662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Borrado lógico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417320" y="3739896"/>
            <a:ext cx="43662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No existe eliminación física definitiva de los exámenes.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222492" y="3227832"/>
            <a:ext cx="541782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423660" y="3726180"/>
            <a:ext cx="512064" cy="512064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hield_white.png" id="225" name="Google Shape;22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0820" y="38633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/>
          <p:nvPr/>
        </p:nvSpPr>
        <p:spPr>
          <a:xfrm>
            <a:off x="7091172" y="3410712"/>
            <a:ext cx="43662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Aislamiento lógico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091172" y="3739896"/>
            <a:ext cx="43662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Corre sobre infraestructura compartida; clinic_id proviene del JWT.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48640" y="4992624"/>
            <a:ext cx="541782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49808" y="5490972"/>
            <a:ext cx="512064" cy="512064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filetext_white.png" id="230" name="Google Shape;23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56281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1417320" y="5175504"/>
            <a:ext cx="43662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Validación básica de archivos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417320" y="5504688"/>
            <a:ext cx="43662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Se valida tipo MIME y tamaño; sin OCR ni IA en esta fase.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222492" y="4992624"/>
            <a:ext cx="541782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423660" y="5490972"/>
            <a:ext cx="512064" cy="512064"/>
          </a:xfrm>
          <a:prstGeom prst="ellipse">
            <a:avLst/>
          </a:prstGeom>
          <a:solidFill>
            <a:srgbClr val="0C5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box_white.png" id="235" name="Google Shape;23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60820" y="56281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7091172" y="5175504"/>
            <a:ext cx="43662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Prototipo y desarrollo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091172" y="5504688"/>
            <a:ext cx="43662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El panel web es un prototipo; Docker Compose no es el despliegue final.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ESPECIFICACIÓN · 14 REQUISITOS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Requerimientos Funcionales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49808" y="16459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filter_white.png" id="248" name="Google Shape;2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83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1316736" y="1645920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Feature Gating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49808" y="2212848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RF-ACC-01: bloquear endpoints premium según plan.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RF-ACC-02: ocultar/deshabilitar componentes según plan.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337304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538472" y="1645920"/>
            <a:ext cx="438912" cy="43891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key_white.png" id="253" name="Google Shape;2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632" y="1783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5105400" y="1645920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RBAC / Autorización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538472" y="2212848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RF-ACC-03: roles predefinidos por clínica.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RF-ACC-04: permisos granulares desde el JWT.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8125968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8327136" y="16459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globe_white.png" id="258" name="Google Shape;25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4296" y="1783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8894064" y="1645920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i18n / UI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8327136" y="2212848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RF-INT-01: cambiar idioma en tiempo real.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RF-INT-02: modo claro / oscuro.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48640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749808" y="4133088"/>
            <a:ext cx="438912" cy="43891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eye_white.png" id="263" name="Google Shape;26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4270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/>
          <p:nvPr/>
        </p:nvSpPr>
        <p:spPr>
          <a:xfrm>
            <a:off x="1316736" y="4133088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Auditoría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749808" y="4700016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RF-AUD-01: cinco dimensiones forenses por evento.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RF-AUD-02: exportación en plan Enterprise.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337304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538472" y="4133088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filetext_white.png" id="268" name="Google Shape;26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5632" y="4270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/>
          <p:nvPr/>
        </p:nvSpPr>
        <p:spPr>
          <a:xfrm>
            <a:off x="5105400" y="4133088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Gestión de Exámenes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38472" y="4700016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RF-GES-01: carga de archivo + metadatos.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RF-GES-02: validar MIME y tamaño.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RF-GES-03: listado paginado y filtros.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8125968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8327136" y="4133088"/>
            <a:ext cx="438912" cy="43891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hecksquare_white.png" id="273" name="Google Shape;27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4296" y="4270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8894064" y="4133088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Interfaz / Integridad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8327136" y="4700016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RF-CLI-01: borrado lógico.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C7A7D"/>
              </a:buClr>
              <a:buSzPts val="980"/>
              <a:buFont typeface="Calibri"/>
              <a:buChar char="•"/>
            </a:pPr>
            <a:r>
              <a:rPr lang="en-US" sz="98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RF-CLI-02: exámenes junto a sesiones y notas.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ESPECIFICACIÓN · 17 REQUISITOS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Requerimientos No Funcionales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48640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749808" y="16459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layers_white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83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1316736" y="1645920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49808" y="2212848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RNF-ARQ-01: replicación según demanda.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RNF-ARQ-02: Feature Gating desacoplado.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RNF-ARQ-03: auditoría fuera de BD transaccional.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RNF-ARQ-05: API-First + REST + OpenAPI.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4337304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4538472" y="1645920"/>
            <a:ext cx="438912" cy="43891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hield_white.png" id="291" name="Google Shape;2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632" y="1783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/>
          <p:nvPr/>
        </p:nvSpPr>
        <p:spPr>
          <a:xfrm>
            <a:off x="5105400" y="1645920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538472" y="2212848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RNF-SEG-01: multitenancy estricto.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RNF-SEG-02: RBAC mediante JWT.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RNF-SEG-03: logs de solo escritura / no repudio.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RNF-SEG-04: HTTPS/TLS.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RNF-SEG-05: MinIO/S3 privado.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8125968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8327136" y="16459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heckcircle_white.png" id="296" name="Google Shape;29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4296" y="1783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9"/>
          <p:cNvSpPr/>
          <p:nvPr/>
        </p:nvSpPr>
        <p:spPr>
          <a:xfrm>
            <a:off x="8894064" y="1645920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8327136" y="2212848"/>
            <a:ext cx="311200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RNF-CUM-01: UK GDPR.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RNF-CUM-02: alineado a ISO 27001.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48640" y="3950208"/>
            <a:ext cx="3514344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749808" y="4133088"/>
            <a:ext cx="438912" cy="43891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ode_white.png" id="301" name="Google Shape;3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4270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/>
          <p:nvPr/>
        </p:nvSpPr>
        <p:spPr>
          <a:xfrm>
            <a:off x="1316736" y="4133088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Mantenibilidad / UI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49808" y="4700016"/>
            <a:ext cx="3112008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RNF-MAN-01: textos dinámicos, sin hardcode.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RNF-MAN-02: claro/oscuro vía variables CSS.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RNF-MAN-03: timestamp ISO 8601 con ms.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337304" y="3950208"/>
            <a:ext cx="3514344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4538472" y="4133088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activity_white.png" id="306" name="Google Shape;30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5632" y="4270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5105400" y="4133088"/>
            <a:ext cx="25999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Calidad / Accesibilidad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4538472" y="4700016"/>
            <a:ext cx="3112008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RNF-QA-01: Jest/Supertest — flujos, errores, cross-tenant.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RNF-ACC-01: contraste y legibilidad WCAG.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a48b47fb7_0_10"/>
          <p:cNvSpPr/>
          <p:nvPr/>
        </p:nvSpPr>
        <p:spPr>
          <a:xfrm>
            <a:off x="548640" y="603504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Matriz de Riesgos y Mitigación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a48b47fb7_0_10"/>
          <p:cNvSpPr/>
          <p:nvPr/>
        </p:nvSpPr>
        <p:spPr>
          <a:xfrm>
            <a:off x="877175" y="1255975"/>
            <a:ext cx="10626000" cy="5362800"/>
          </a:xfrm>
          <a:prstGeom prst="roundRect">
            <a:avLst>
              <a:gd fmla="val 4255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6" name="Google Shape;316;g3fa48b47fb7_0_10"/>
          <p:cNvGraphicFramePr/>
          <p:nvPr/>
        </p:nvGraphicFramePr>
        <p:xfrm>
          <a:off x="1005013" y="138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{29388048-E022-4F7C-BB70-678EE5CE56EF}</a:tableStyleId>
              </a:tblPr>
              <a:tblGrid>
                <a:gridCol w="3453575"/>
                <a:gridCol w="3453575"/>
                <a:gridCol w="3453575"/>
              </a:tblGrid>
              <a:tr h="348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Riesgo</a:t>
                      </a: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 Técnico / Operativo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Impacto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Estrategia de Mitigación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0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Fuga de datos entre clínicas (Multitenant)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Acceso no autorizado a expedientes de otra institución.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Alto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Filtrado estricto por Tenant ID a nivel de Middleware en la API y pruebas unitarias de aislamiento en el ORM.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0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Saturación y costos de almacenamiento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Crecimiento acelerado por imágenes y PDFs pesados.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Medio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Uso de MinIO/S3 mediante URLs firmadas con expiración y preprocesamiento de compresión en el cliente.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0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Incumplimiento normativo (UK GDPR)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Falta de evidencia legal ante alteración o consulta de expedientes.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Alto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Log de auditoría inmutable (</a:t>
                      </a:r>
                      <a:r>
                        <a:rPr i="1" lang="en-US" sz="1100">
                          <a:solidFill>
                            <a:srgbClr val="1F1F1F"/>
                          </a:solidFill>
                        </a:rPr>
                        <a:t>append-only</a:t>
                      </a: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) en PostgreSQL que registra usuario, acción, timestamp y tenant.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0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Cuellos de botella en la API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Consultas lentas en búsquedas masivas de expedientes.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Medio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Indexación estratégica en base de datos, paginación en endpoints REST y arquitectura desacoplada.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PROCESO END-TO-END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Flujo General de Subida de un Examen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48640" y="1600200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619631" y="1764792"/>
            <a:ext cx="438912" cy="43891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1619631" y="1764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58368" y="2313432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58368" y="2624328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llq_ppt/icons/checkcircle_mint.png" id="329" name="Google Shape;3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254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3385566" y="1600200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4456557" y="1764792"/>
            <a:ext cx="438912" cy="43891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4456557" y="1764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495294" y="2313432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Tenant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495294" y="2624328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clinic_id desde contexto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llq_ppt/icons/checkcircle_mint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2180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6222492" y="1600200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7293483" y="1764792"/>
            <a:ext cx="438912" cy="43891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7293483" y="1764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332220" y="2313432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Autorización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332220" y="2624328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RBAC + plan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llq_ppt/icons/checkcircle_mint.png" id="341" name="Google Shape;3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9106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/>
          <p:nvPr/>
        </p:nvSpPr>
        <p:spPr>
          <a:xfrm>
            <a:off x="9059418" y="1600200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0130409" y="1764792"/>
            <a:ext cx="438912" cy="43891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10130409" y="1764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9169146" y="2313432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9169146" y="2624328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MIME + tamaño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48640" y="4005072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1619631" y="4169664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1619631" y="41696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58368" y="4718304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58368" y="5029200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MinIO / S3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llq_ppt/icons/checkcircle_teal.png" id="352" name="Google Shape;3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254" y="49971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3385566" y="4005072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4456557" y="4169664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4456557" y="41696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495294" y="4718304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Metadatos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495294" y="5029200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llq_ppt/icons/checkcircle_teal.png" id="358" name="Google Shape;3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80" y="49971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/>
          <p:nvPr/>
        </p:nvSpPr>
        <p:spPr>
          <a:xfrm>
            <a:off x="6222492" y="4005072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293483" y="4169664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7293483" y="41696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332220" y="4718304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Auditoría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332220" y="5029200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Evento inmutable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llq_ppt/icons/checkcircle_teal.png" id="364" name="Google Shape;3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106" y="49971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0"/>
          <p:cNvSpPr/>
          <p:nvPr/>
        </p:nvSpPr>
        <p:spPr>
          <a:xfrm>
            <a:off x="9059418" y="4005072"/>
            <a:ext cx="2580894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10130409" y="4169664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10130409" y="41696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9169146" y="4718304"/>
            <a:ext cx="236143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Respuesta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9169146" y="5029200"/>
            <a:ext cx="23614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Web / móvil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VISTA DE ALTO NIVEL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Arquitectura Conceptual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548640" y="1463040"/>
            <a:ext cx="11091672" cy="841248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768096" y="1627632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martphone_white.png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1764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/>
          <p:nvPr/>
        </p:nvSpPr>
        <p:spPr>
          <a:xfrm>
            <a:off x="1554480" y="1572768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Clientes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3840480" y="1572768"/>
            <a:ext cx="7434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Panel clínico web + App móvil Flutter/Dart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48640" y="2423160"/>
            <a:ext cx="11091672" cy="841248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768096" y="2587752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key_white.png" id="385" name="Google Shape;3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1554480" y="2532888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3840480" y="2532888"/>
            <a:ext cx="7434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JWT  →  Tenant  →  RBAC  →  Feature Gating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48640" y="3383280"/>
            <a:ext cx="11091672" cy="841248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768096" y="3547872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erver_white.png" id="390" name="Google Shape;39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" y="36850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1"/>
          <p:cNvSpPr/>
          <p:nvPr/>
        </p:nvSpPr>
        <p:spPr>
          <a:xfrm>
            <a:off x="1554480" y="3493008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API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3840480" y="3493008"/>
            <a:ext cx="7434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Node.js + TypeScript + Express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548640" y="4343400"/>
            <a:ext cx="11091672" cy="841248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768096" y="4507992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database_white.png" id="395" name="Google Shape;39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256" y="46451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1"/>
          <p:cNvSpPr/>
          <p:nvPr/>
        </p:nvSpPr>
        <p:spPr>
          <a:xfrm>
            <a:off x="1554480" y="4453128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Datos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840480" y="4453128"/>
            <a:ext cx="7434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PostgreSQL + MinIO/S3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48640" y="5303520"/>
            <a:ext cx="11091672" cy="841248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768096" y="5468112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eye_white.png" id="400" name="Google Shape;40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256" y="56052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1"/>
          <p:cNvSpPr/>
          <p:nvPr/>
        </p:nvSpPr>
        <p:spPr>
          <a:xfrm>
            <a:off x="1554480" y="5413248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Trazabilidad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3840480" y="5413248"/>
            <a:ext cx="7434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Auditoría inmutable + retención por tier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FORMA DE TRABAJO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Metodología — Scrum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fmla="val 2597" name="adj"/>
            </a:avLst>
          </a:prstGeom>
          <a:solidFill>
            <a:srgbClr val="0F4A50"/>
          </a:solidFill>
          <a:ln cap="flat" cmpd="sng" w="12700">
            <a:solidFill>
              <a:srgbClr val="0F4A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1508760" y="219456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repeat_white.png" id="413" name="Google Shape;4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944" y="2523744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822960" y="37490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Ágil e iterativa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22960" y="416052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Desarrollo incremental mediante Sprints, con revisión y retroalimentación continua del equipo.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343400" y="1472184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4343400" y="14721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4919472" y="1417320"/>
            <a:ext cx="6720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Levantamiento y documentación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4919472" y="1728216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Product Backlog, requisitos, modelo de datos, API y estándares.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2"/>
          <p:cNvCxnSpPr/>
          <p:nvPr/>
        </p:nvCxnSpPr>
        <p:spPr>
          <a:xfrm>
            <a:off x="4919472" y="2194560"/>
            <a:ext cx="6720840" cy="0"/>
          </a:xfrm>
          <a:prstGeom prst="straightConnector1">
            <a:avLst/>
          </a:prstGeom>
          <a:noFill/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2"/>
          <p:cNvSpPr/>
          <p:nvPr/>
        </p:nvSpPr>
        <p:spPr>
          <a:xfrm>
            <a:off x="4343400" y="2368296"/>
            <a:ext cx="402336" cy="40233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4343400" y="23682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919472" y="2313432"/>
            <a:ext cx="6720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Diseño técnico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4919472" y="2624328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Arquitectura, middlewares, estructura de carpetas y flujo de datos.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2"/>
          <p:cNvCxnSpPr/>
          <p:nvPr/>
        </p:nvCxnSpPr>
        <p:spPr>
          <a:xfrm>
            <a:off x="4919472" y="3090672"/>
            <a:ext cx="6720840" cy="0"/>
          </a:xfrm>
          <a:prstGeom prst="straightConnector1">
            <a:avLst/>
          </a:prstGeom>
          <a:noFill/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2"/>
          <p:cNvSpPr/>
          <p:nvPr/>
        </p:nvSpPr>
        <p:spPr>
          <a:xfrm>
            <a:off x="4343400" y="3264408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4343400" y="32644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919472" y="3209544"/>
            <a:ext cx="6720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Implementación incremental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4919472" y="3520440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Backend por capas, almacenamiento y seguridad.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2"/>
          <p:cNvCxnSpPr/>
          <p:nvPr/>
        </p:nvCxnSpPr>
        <p:spPr>
          <a:xfrm>
            <a:off x="4919472" y="3986784"/>
            <a:ext cx="6720840" cy="0"/>
          </a:xfrm>
          <a:prstGeom prst="straightConnector1">
            <a:avLst/>
          </a:prstGeom>
          <a:noFill/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2"/>
          <p:cNvSpPr/>
          <p:nvPr/>
        </p:nvSpPr>
        <p:spPr>
          <a:xfrm>
            <a:off x="4343400" y="4160520"/>
            <a:ext cx="402336" cy="40233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4343400" y="41605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4919472" y="4105656"/>
            <a:ext cx="6720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Verificación continua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919472" y="4416552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Pruebas unitarias e integración con Jest/Supertest.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12"/>
          <p:cNvCxnSpPr/>
          <p:nvPr/>
        </p:nvCxnSpPr>
        <p:spPr>
          <a:xfrm>
            <a:off x="4919472" y="4882896"/>
            <a:ext cx="6720840" cy="0"/>
          </a:xfrm>
          <a:prstGeom prst="straightConnector1">
            <a:avLst/>
          </a:prstGeom>
          <a:noFill/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2"/>
          <p:cNvSpPr/>
          <p:nvPr/>
        </p:nvSpPr>
        <p:spPr>
          <a:xfrm>
            <a:off x="4343400" y="5056632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4343400" y="50566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919472" y="5001768"/>
            <a:ext cx="6720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Sprint Review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4919472" y="5312664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Validación periódica y retroalimentación del equipo.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"/>
          <p:cNvSpPr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STACK DEL PROYECTO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Tecnología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548640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erver_white.png" id="450" name="Google Shape;4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/>
          <p:nvPr/>
        </p:nvSpPr>
        <p:spPr>
          <a:xfrm>
            <a:off x="749808" y="2231136"/>
            <a:ext cx="3112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749808" y="2542032"/>
            <a:ext cx="31120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Node.js + TypeScript + Express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API REST · OpenAPI/Swagger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4337304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4538472" y="16459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database_white.png" id="455" name="Google Shape;4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632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/>
          <p:nvPr/>
        </p:nvSpPr>
        <p:spPr>
          <a:xfrm>
            <a:off x="4538472" y="2231136"/>
            <a:ext cx="3112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Datos y archivos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4538472" y="2542032"/>
            <a:ext cx="31120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MinIO / S3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8125968" y="1463040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8327136" y="1645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box_white.png" id="460" name="Google Shape;4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4296" y="17830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3"/>
          <p:cNvSpPr/>
          <p:nvPr/>
        </p:nvSpPr>
        <p:spPr>
          <a:xfrm>
            <a:off x="8327136" y="2231136"/>
            <a:ext cx="3112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Infraestructura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8327136" y="2542032"/>
            <a:ext cx="31120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Preparado para orquestadores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548640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martphone_white.png" id="465" name="Google Shape;46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/>
          <p:nvPr/>
        </p:nvSpPr>
        <p:spPr>
          <a:xfrm>
            <a:off x="749808" y="4718304"/>
            <a:ext cx="3112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749808" y="5029200"/>
            <a:ext cx="31120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HTML + CSS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Flutter + Dart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337304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4538472" y="41330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hecksquare_white.png" id="470" name="Google Shape;47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5632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3"/>
          <p:cNvSpPr/>
          <p:nvPr/>
        </p:nvSpPr>
        <p:spPr>
          <a:xfrm>
            <a:off x="4538472" y="4718304"/>
            <a:ext cx="3112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538472" y="5029200"/>
            <a:ext cx="31120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Jest + Supertest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Pruebas unitarias e integración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8125968" y="3950208"/>
            <a:ext cx="3514344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B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8327136" y="413308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hield_white.png" id="475" name="Google Shape;47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4296" y="4270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3"/>
          <p:cNvSpPr/>
          <p:nvPr/>
        </p:nvSpPr>
        <p:spPr>
          <a:xfrm>
            <a:off x="8327136" y="4718304"/>
            <a:ext cx="3112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3292B"/>
                </a:solidFill>
                <a:latin typeface="Calibri"/>
                <a:ea typeface="Calibri"/>
                <a:cs typeface="Calibri"/>
                <a:sym typeface="Calibri"/>
              </a:rPr>
              <a:t>Estándares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8327136" y="5029200"/>
            <a:ext cx="31120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JWT · RBAC · Multitenancy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Feature Gating · i18n · Auditoría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A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"/>
          <p:cNvSpPr/>
          <p:nvPr/>
        </p:nvSpPr>
        <p:spPr>
          <a:xfrm>
            <a:off x="548640" y="329184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548640" y="60350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3292B"/>
                </a:solidFill>
                <a:latin typeface="Cambria"/>
                <a:ea typeface="Cambria"/>
                <a:cs typeface="Cambria"/>
                <a:sym typeface="Cambria"/>
              </a:rPr>
              <a:t>Cronograma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2933849" y="384049"/>
            <a:ext cx="674700" cy="6327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lock_white.png" id="487" name="Google Shape;4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2599" y="471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9" name="Google Shape;489;p14"/>
          <p:cNvGraphicFramePr/>
          <p:nvPr/>
        </p:nvGraphicFramePr>
        <p:xfrm>
          <a:off x="548650" y="124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{29388048-E022-4F7C-BB70-678EE5CE56EF}</a:tableStyleId>
              </a:tblPr>
              <a:tblGrid>
                <a:gridCol w="1075675"/>
                <a:gridCol w="1017075"/>
                <a:gridCol w="2340350"/>
                <a:gridCol w="5184775"/>
                <a:gridCol w="1310450"/>
              </a:tblGrid>
              <a:tr h="57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Fase / Sprint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Fechas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Enfoque Principal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Entregables y Tareas Clave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Responsables Principales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DFF"/>
                    </a:solidFill>
                  </a:tcPr>
                </a:tc>
              </a:tr>
              <a:tr h="56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0 – Iniciación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26/8 – 2/9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Product Backlog y Arquitectura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Relevamiento de requerimientos; Backlog priorizado; diseño de arquitectura y modelo de datos; configuración Docker Compose/CI. </a:t>
                      </a: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Hito 1: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Backlog y arquitectura aprobados.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JP Vega, A. Rodríguez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56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1 – Fundaciones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3/9 – 14/9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Multi-tenancy, Auth y RBAC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Autenticación JWT; middleware de resolución de tenant (clinic_id); RBAC granular (roles y permisos); pruebas unitarias con Jest.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A. Rodríguez, JP Vega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56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2 – Core Backend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15/9 – 28/9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Gestión de Exámenes Médicos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Modelado en PostgreSQL; API de subida multipart; integración MinIO/S3; listado paginado y filtros; soft delete; pruebas de integración. </a:t>
                      </a: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Hito 2: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Backend Core operativo.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JP Vega, A. Rodríguez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56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3 – Seguridad Avanzada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29/9 – 9/10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Feature Gating y Auditoría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Middleware de Feature Gating por plan comercial; registro de auditoría inmutable (5 dimensiones forenses); retención por tier; exportación Enterprise; pruebas de seguridad cross-tenant.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JP Vega, A. Rodríguez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56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4 – UX y Panel Clínico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12/10 – 21/10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i18n, Temas y Panel Clínico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Implementación i18n (ES/EN/FR); temas Light/Dark; prototipo funcional del panel clínico web; vista contextual de paciente; pruebas de accesibilidad WCAG. </a:t>
                      </a: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Hito 3: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Plataforma funcional completa.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B. Fernández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56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5 – Integración Móvil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22/10 – 30/10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App Móvil y Documentación API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Integración del módulo en app móvil (Flutter/Dart); documentación OpenAPI/Swagger; pruebas end-to-end móvil↔backend.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B. Fernández, JP Vega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84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Sprint 6 – Cierre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2/11 – 9/11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QA Final y Entrega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Batería completa de pruebas (Jest/Supertest); revisión de cumplimiento normativo (GDPR/ISO 27001); informe final de entrega; demo de cierre. </a:t>
                      </a: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Hito 4: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Proyecto WellQ entregado.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A. Rodríguez, JP Vega, Equipo WellQ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42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5"/>
          <p:cNvSpPr/>
          <p:nvPr/>
        </p:nvSpPr>
        <p:spPr>
          <a:xfrm>
            <a:off x="-2011680" y="-2011680"/>
            <a:ext cx="4937760" cy="4937760"/>
          </a:xfrm>
          <a:prstGeom prst="ellipse">
            <a:avLst/>
          </a:prstGeom>
          <a:solidFill>
            <a:srgbClr val="0F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0F4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594360" y="71323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Comentario Final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heckcircle_white.png" id="500" name="Google Shape;5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373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5"/>
          <p:cNvSpPr/>
          <p:nvPr/>
        </p:nvSpPr>
        <p:spPr>
          <a:xfrm>
            <a:off x="1325880" y="1545336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Centraliza la documentación clínica y reduce la carga administrativa de la gestión manual de exámenes.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shield_white.png" id="503" name="Google Shape;5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5786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5"/>
          <p:cNvSpPr/>
          <p:nvPr/>
        </p:nvSpPr>
        <p:spPr>
          <a:xfrm>
            <a:off x="1325880" y="2386584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Combina funcionalidad clínica con seguridad, aislamiento multitenant, control de acceso y trazabilidad.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layers_white.png" id="506" name="Google Shape;5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4198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5"/>
          <p:cNvSpPr/>
          <p:nvPr/>
        </p:nvSpPr>
        <p:spPr>
          <a:xfrm>
            <a:off x="1325880" y="3227832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Los requerimientos funcionales definen qué entrega el módulo; los no funcionales, cómo debe operar: seguro, escalable, mantenible y auditable.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640080" y="4123944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llq_ppt/icons/cpu_white.png" id="509" name="Google Shape;5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426110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5"/>
          <p:cNvSpPr/>
          <p:nvPr/>
        </p:nvSpPr>
        <p:spPr>
          <a:xfrm>
            <a:off x="1325880" y="406908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La arquitectura queda preparada para futuras capacidades de automatización e inteligencia artificial.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p15"/>
          <p:cNvCxnSpPr/>
          <p:nvPr/>
        </p:nvCxnSpPr>
        <p:spPr>
          <a:xfrm>
            <a:off x="640080" y="507492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1E60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15"/>
          <p:cNvSpPr/>
          <p:nvPr/>
        </p:nvSpPr>
        <p:spPr>
          <a:xfrm>
            <a:off x="11247120" y="64739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DAD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EDAD5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2026-08-31T02:02:34Z</dcterms:created>
  <dc:creator>PptxGenJS</dc:creator>
</cp:coreProperties>
</file>